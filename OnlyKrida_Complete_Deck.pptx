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1828800"/>
            <a:ext cx="6400800" cy="6400800"/>
          </a:xfrm>
          <a:prstGeom prst="ellipse">
            <a:avLst/>
          </a:prstGeom>
          <a:solidFill>
            <a:srgbClr val="153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30D158"/>
                </a:solidFill>
              </a:defRPr>
            </a:pPr>
            <a:r>
              <a:t>OnlyKrida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0F0"/>
                </a:solidFill>
              </a:defRPr>
            </a:pPr>
            <a:r>
              <a:t>India's First AI-Powered Sports Talent Discovery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BB"/>
                </a:solidFill>
              </a:defRPr>
            </a:pPr>
            <a:r>
              <a:t>Making Every Athlete Discoverable  |  Powered by Claude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389120"/>
            <a:ext cx="2194560" cy="10972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0D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4805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0D158"/>
                </a:solidFill>
              </a:defRPr>
            </a:pPr>
            <a:r>
              <a:t>400M+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9377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BB"/>
                </a:solidFill>
              </a:defRPr>
            </a:pPr>
            <a:r>
              <a:t>Sports Participants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4389120"/>
            <a:ext cx="2194560" cy="10972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0D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44805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0D158"/>
                </a:solidFill>
              </a:defRPr>
            </a:pPr>
            <a:r>
              <a:t>$7B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49377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BB"/>
                </a:solidFill>
              </a:defRPr>
            </a:pPr>
            <a:r>
              <a:t>Indian Sports Market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4389120"/>
            <a:ext cx="2194560" cy="10972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0D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44805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0D158"/>
                </a:solidFill>
              </a:defRPr>
            </a:pPr>
            <a:r>
              <a:t>&lt; 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49377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BB"/>
                </a:solidFill>
              </a:defRPr>
            </a:pPr>
            <a:r>
              <a:t>Professionally Scouted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5359" y="4389120"/>
            <a:ext cx="2194560" cy="10972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0D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59" y="44805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0D158"/>
                </a:solidFill>
              </a:defRPr>
            </a:pPr>
            <a:r>
              <a:t>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59" y="49377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BB"/>
                </a:solidFill>
              </a:defRPr>
            </a:pPr>
            <a:r>
              <a:t>User Roles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943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</a:defRPr>
            </a:pPr>
            <a:r>
              <a:t>Investor + Engineering Deck  |  April 2026  |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0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88"/>
                </a:solidFill>
              </a:defRPr>
            </a:pPr>
            <a:r>
              <a:t>Why India's sports talent ecosystem is broken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92240"/>
            <a:ext cx="10972800" cy="127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</a:defRPr>
            </a:pPr>
            <a:r>
              <a:t>OnlyKrida  |  Confidential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3474720" cy="20116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FF4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453A"/>
                </a:solidFill>
              </a:defRPr>
            </a:pPr>
            <a:r>
              <a:t>No Digital Identity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</a:defRPr>
            </a:pPr>
            <a:r>
              <a:t>Athletes have no centralized profile. Talent dies in WhatsApp groups and local newspapers.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463040"/>
            <a:ext cx="3474720" cy="20116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FF9F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59" y="16459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F0A"/>
                </a:solidFill>
              </a:defRPr>
            </a:pPr>
            <a:r>
              <a:t>Geographic Bias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219456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</a:defRPr>
            </a:pPr>
            <a:r>
              <a:t>Scouts only visit metro cities. 70% of India's athletes are in Tier 2/3 cities and rural areas.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1463040"/>
            <a:ext cx="3474720" cy="20116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FF4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9" y="16459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453A"/>
                </a:solidFill>
              </a:defRPr>
            </a:pPr>
            <a:r>
              <a:t>Pay-to-Play Culture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9" y="219456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</a:defRPr>
            </a:pPr>
            <a:r>
              <a:t>Access to trials costs money. Talented athletes from low-income families are systematically excluded.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40480"/>
            <a:ext cx="3474720" cy="20116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FF9F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0233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F0A"/>
                </a:solidFill>
              </a:defRPr>
            </a:pPr>
            <a:r>
              <a:t>Fragmented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5720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</a:defRPr>
            </a:pPr>
            <a:r>
              <a:t>Fitness data lives on paper. No standardized, verified performance metrics exist.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79" y="3840480"/>
            <a:ext cx="3474720" cy="20116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FF4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59" y="40233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453A"/>
                </a:solidFill>
              </a:defRPr>
            </a:pPr>
            <a:r>
              <a:t>Scout Inefficiency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59" y="45720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</a:defRPr>
            </a:pPr>
            <a:r>
              <a:t>Scouts travel thousands of miles to see 10 athletes. 90% of trips yield zero signings.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19" y="3840480"/>
            <a:ext cx="3474720" cy="20116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FF9F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599" y="40233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F0A"/>
                </a:solidFill>
              </a:defRPr>
            </a:pPr>
            <a:r>
              <a:t>No Verified Credentials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9" y="45720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</a:defRPr>
            </a:pPr>
            <a:r>
              <a:t>Fake achievements are rampant. There's no way to verify an athlete's actual performance.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0"/>
                </a:solidFill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88"/>
                </a:solidFill>
              </a:defRPr>
            </a:pPr>
            <a:r>
              <a:t>OnlyKrida — LinkedIn meets Instagram for Sports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92240"/>
            <a:ext cx="10972800" cy="127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</a:defRPr>
            </a:pPr>
            <a:r>
              <a:t>OnlyKrida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BB"/>
                </a:solidFill>
              </a:defRPr>
            </a:pPr>
            <a:r>
              <a:t>A hybrid platform combining professional credibility, content engagement, and AI-powered scouting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86000"/>
            <a:ext cx="2560320" cy="29260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0D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508760" y="2560320"/>
            <a:ext cx="640080" cy="640080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3832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0D158"/>
                </a:solidFill>
              </a:defRPr>
            </a:pPr>
            <a:r>
              <a:t>Digital Sports Identity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93192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BB"/>
                </a:solidFill>
              </a:defRPr>
            </a:pPr>
            <a:r>
              <a:t>Verified profiles with achievements,</a:t>
            </a:r>
            <a:br/>
            <a:r>
              <a:t>fitness data, and highlight reels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2286000"/>
            <a:ext cx="2560320" cy="29260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43400" y="2560320"/>
            <a:ext cx="640080" cy="640080"/>
          </a:xfrm>
          <a:prstGeom prst="ellipse">
            <a:avLst/>
          </a:prstGeom>
          <a:solidFill>
            <a:srgbClr val="64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33832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4D2FF"/>
                </a:solidFill>
              </a:defRPr>
            </a:pPr>
            <a:r>
              <a:t>AI-Powered Discovery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93192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BB"/>
                </a:solidFill>
              </a:defRPr>
            </a:pPr>
            <a:r>
              <a:t>Claude AI matches athletes to scouts</a:t>
            </a:r>
            <a:br/>
            <a:r>
              <a:t>using weighted preference algorithms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286000"/>
            <a:ext cx="2560320" cy="29260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FF9F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178040" y="2560320"/>
            <a:ext cx="640080" cy="640080"/>
          </a:xfrm>
          <a:prstGeom prst="ellipse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3832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9F0A"/>
                </a:solidFill>
              </a:defRPr>
            </a:pPr>
            <a:r>
              <a:t>Content Platform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93192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BB"/>
                </a:solidFill>
              </a:defRPr>
            </a:pPr>
            <a:r>
              <a:t>Instagram-like feed for training</a:t>
            </a:r>
            <a:br/>
            <a:r>
              <a:t>highlights, match clips, and achievements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286000"/>
            <a:ext cx="2560320" cy="29260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BF5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012680" y="2560320"/>
            <a:ext cx="640080" cy="640080"/>
          </a:xfrm>
          <a:prstGeom prst="ellipse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0" y="33832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BF5AF2"/>
                </a:solidFill>
              </a:defRPr>
            </a:pPr>
            <a:r>
              <a:t>Opportunity Marketplace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393192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BB"/>
                </a:solidFill>
              </a:defRPr>
            </a:pPr>
            <a:r>
              <a:t>Tryouts, tournaments, scholarships,</a:t>
            </a:r>
            <a:br/>
            <a:r>
              <a:t>and contracts in one place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0D158"/>
                </a:solidFill>
              </a:defRPr>
            </a:pPr>
            <a:r>
              <a:t>Free forever for athletes  |  Revenue from scout subscriptions, team dashboards, and brand sponsorships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0"/>
                </a:solidFill>
              </a:defRPr>
            </a:pPr>
            <a: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88"/>
                </a:solidFill>
              </a:defRPr>
            </a:pPr>
            <a:r>
              <a:t>India's sports ecosystem is massive, underserved, and growing fast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92240"/>
            <a:ext cx="10972800" cy="127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</a:defRPr>
            </a:pPr>
            <a:r>
              <a:t>OnlyKrida  |  Confidential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63040"/>
          <a:ext cx="10515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41148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30D158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30D158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30D158"/>
                          </a:solidFill>
                        </a:defRPr>
                      </a:pPr>
                      <a:r>
                        <a:t>Source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Total Sports Participants (India)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400M+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FICCI Sports Report 2025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Indian Sports Industry Size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$7 Billion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KPMG India Sports Report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Annual Growth Rate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15% YoY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Deloitte Sports Industry Analysis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Professional Athletes (% of participants)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&lt; 1%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Sports Authority of India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Grassroots Athletes Without Digital Presence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99%+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OnlyKrida Research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Coaches &amp; Trainers in India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2M+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National Sports Census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Active Sports Scouts (organized)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~5,000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ISL / IPL / Federation Data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Sports Academies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15,000+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FICCI Education Report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Annual Sports Scholarships (unfilled)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30%+ go unfilled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University Grants Commission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5669280"/>
            <a:ext cx="5029200" cy="6400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0D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7150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0D158"/>
                </a:solidFill>
              </a:defRPr>
            </a:pPr>
            <a:r>
              <a:t>TAM: $7B  |  SAM: $800M  |  SOM (Year 3): $12M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0"/>
                </a:solidFill>
              </a:defRPr>
            </a:pPr>
            <a: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88"/>
                </a:solidFill>
              </a:defRPr>
            </a:pPr>
            <a:r>
              <a:t>From signup to discovery in minutes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92240"/>
            <a:ext cx="10972800" cy="127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</a:defRPr>
            </a:pPr>
            <a:r>
              <a:t>OnlyKrida  |  Confidential</a:t>
            </a:r>
          </a:p>
        </p:txBody>
      </p:sp>
      <p:sp>
        <p:nvSpPr>
          <p:cNvPr id="7" name="Oval 6"/>
          <p:cNvSpPr/>
          <p:nvPr/>
        </p:nvSpPr>
        <p:spPr>
          <a:xfrm>
            <a:off x="960120" y="1554480"/>
            <a:ext cx="548640" cy="548640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81912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F0F1A"/>
                </a:solidFill>
              </a:defRPr>
            </a:pPr>
            <a: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645920" y="1783080"/>
            <a:ext cx="640080" cy="254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5760" y="2286000"/>
            <a:ext cx="1737360" cy="34747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46888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0D158"/>
                </a:solidFill>
              </a:defRPr>
            </a:pPr>
            <a:r>
              <a:t>Sign Up &amp;</a:t>
            </a:r>
            <a:br/>
            <a:r>
              <a:t>Choose 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00400"/>
            <a:ext cx="1554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BB"/>
                </a:solidFill>
              </a:defRPr>
            </a:pPr>
            <a:r>
              <a:t>Athletes, scouts, coaches,</a:t>
            </a:r>
            <a:br/>
            <a:r>
              <a:t>teams select their role.</a:t>
            </a:r>
            <a:br/>
            <a:r>
              <a:t>5 role-specific signup forms.</a:t>
            </a:r>
          </a:p>
        </p:txBody>
      </p:sp>
      <p:sp>
        <p:nvSpPr>
          <p:cNvPr id="13" name="Oval 12"/>
          <p:cNvSpPr/>
          <p:nvPr/>
        </p:nvSpPr>
        <p:spPr>
          <a:xfrm>
            <a:off x="2880360" y="1554480"/>
            <a:ext cx="548640" cy="548640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0360" y="1581912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F0F1A"/>
                </a:solidFill>
              </a:defRPr>
            </a:pPr>
            <a: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66160" y="1783080"/>
            <a:ext cx="640080" cy="254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286000" y="2286000"/>
            <a:ext cx="1737360" cy="34747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23160" y="246888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0D158"/>
                </a:solidFill>
              </a:defRPr>
            </a:pPr>
            <a:r>
              <a:t>Build Your</a:t>
            </a:r>
            <a:br/>
            <a:r>
              <a:t>Profile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3200400"/>
            <a:ext cx="1554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BB"/>
                </a:solidFill>
              </a:defRPr>
            </a:pPr>
            <a:r>
              <a:t>Add sport, position, stats,</a:t>
            </a:r>
            <a:br/>
            <a:r>
              <a:t>achievements, and upload</a:t>
            </a:r>
            <a:br/>
            <a:r>
              <a:t>highlight videos.</a:t>
            </a:r>
          </a:p>
        </p:txBody>
      </p:sp>
      <p:sp>
        <p:nvSpPr>
          <p:cNvPr id="19" name="Oval 18"/>
          <p:cNvSpPr/>
          <p:nvPr/>
        </p:nvSpPr>
        <p:spPr>
          <a:xfrm>
            <a:off x="4800600" y="1554480"/>
            <a:ext cx="548640" cy="548640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00600" y="1581912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F0F1A"/>
                </a:solidFill>
              </a:defRPr>
            </a:pPr>
            <a: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0" y="1783080"/>
            <a:ext cx="640080" cy="254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206240" y="2286000"/>
            <a:ext cx="1737360" cy="34747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43400" y="246888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0D158"/>
                </a:solidFill>
              </a:defRPr>
            </a:pPr>
            <a:r>
              <a:t>Take Fitness</a:t>
            </a:r>
            <a:br/>
            <a:r>
              <a:t>Tests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3200400"/>
            <a:ext cx="1554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BB"/>
                </a:solidFill>
              </a:defRPr>
            </a:pPr>
            <a:r>
              <a:t>Beep test, sprints, agility,</a:t>
            </a:r>
            <a:br/>
            <a:r>
              <a:t>vertical jump. Get your</a:t>
            </a:r>
            <a:br/>
            <a:r>
              <a:t>zone: Starter to Unstoppable.</a:t>
            </a:r>
          </a:p>
        </p:txBody>
      </p:sp>
      <p:sp>
        <p:nvSpPr>
          <p:cNvPr id="25" name="Oval 24"/>
          <p:cNvSpPr/>
          <p:nvPr/>
        </p:nvSpPr>
        <p:spPr>
          <a:xfrm>
            <a:off x="6720840" y="1554480"/>
            <a:ext cx="548640" cy="548640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1581912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F0F1A"/>
                </a:solidFill>
              </a:defRPr>
            </a:pPr>
            <a:r>
              <a:t>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06640" y="1783080"/>
            <a:ext cx="640080" cy="254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126480" y="2286000"/>
            <a:ext cx="1737360" cy="34747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246888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0D158"/>
                </a:solidFill>
              </a:defRPr>
            </a:pPr>
            <a:r>
              <a:t>Create</a:t>
            </a:r>
            <a:br/>
            <a:r>
              <a:t>Content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3200400"/>
            <a:ext cx="1554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BB"/>
                </a:solidFill>
              </a:defRPr>
            </a:pPr>
            <a:r>
              <a:t>Post training clips, match</a:t>
            </a:r>
            <a:br/>
            <a:r>
              <a:t>highlights, and achievements</a:t>
            </a:r>
            <a:br/>
            <a:r>
              <a:t>to your feed.</a:t>
            </a:r>
          </a:p>
        </p:txBody>
      </p:sp>
      <p:sp>
        <p:nvSpPr>
          <p:cNvPr id="31" name="Oval 30"/>
          <p:cNvSpPr/>
          <p:nvPr/>
        </p:nvSpPr>
        <p:spPr>
          <a:xfrm>
            <a:off x="8641080" y="1554480"/>
            <a:ext cx="548640" cy="548640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41080" y="1581912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F0F1A"/>
                </a:solidFill>
              </a:defRPr>
            </a:pPr>
            <a:r>
              <a:t>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326880" y="1783080"/>
            <a:ext cx="640080" cy="254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046720" y="2286000"/>
            <a:ext cx="1737360" cy="34747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83880" y="246888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0D158"/>
                </a:solidFill>
              </a:defRPr>
            </a:pPr>
            <a:r>
              <a:t>Get</a:t>
            </a:r>
            <a:br/>
            <a:r>
              <a:t>Discovered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8160" y="3200400"/>
            <a:ext cx="1554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BB"/>
                </a:solidFill>
              </a:defRPr>
            </a:pPr>
            <a:r>
              <a:t>AI matches you with scouts</a:t>
            </a:r>
            <a:br/>
            <a:r>
              <a:t>based on fit scores.</a:t>
            </a:r>
            <a:br/>
            <a:r>
              <a:t>Scouts shortlist and message.</a:t>
            </a:r>
          </a:p>
        </p:txBody>
      </p:sp>
      <p:sp>
        <p:nvSpPr>
          <p:cNvPr id="37" name="Oval 36"/>
          <p:cNvSpPr/>
          <p:nvPr/>
        </p:nvSpPr>
        <p:spPr>
          <a:xfrm>
            <a:off x="10561320" y="1554480"/>
            <a:ext cx="548640" cy="548640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561320" y="1581912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F0F1A"/>
                </a:solidFill>
              </a:defRPr>
            </a:pPr>
            <a:r>
              <a:t>6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966960" y="2286000"/>
            <a:ext cx="1737360" cy="34747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04120" y="246888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0D158"/>
                </a:solidFill>
              </a:defRPr>
            </a:pPr>
            <a:r>
              <a:t>Apply to</a:t>
            </a:r>
            <a:br/>
            <a:r>
              <a:t>Opportunities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0" y="3200400"/>
            <a:ext cx="1554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BB"/>
                </a:solidFill>
              </a:defRPr>
            </a:pPr>
            <a:r>
              <a:t>Browse tryouts, tournaments,</a:t>
            </a:r>
            <a:br/>
            <a:r>
              <a:t>scholarships, contracts.</a:t>
            </a:r>
            <a:br/>
            <a:r>
              <a:t>Apply with one tap.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0"/>
                </a:solidFill>
              </a:defRPr>
            </a:pPr>
            <a:r>
              <a:t>Product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88"/>
                </a:solidFill>
              </a:defRPr>
            </a:pPr>
            <a:r>
              <a:t>Everything built and working in MVP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92240"/>
            <a:ext cx="10972800" cy="127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</a:defRPr>
            </a:pPr>
            <a:r>
              <a:t>OnlyKrida  |  Confidential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3474720" cy="22860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0D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0D158"/>
                </a:solidFill>
              </a:defRPr>
            </a:pPr>
            <a:r>
              <a:t>Social Feed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</a:defRPr>
            </a:pPr>
            <a:r>
              <a:t>Image &amp; video posts, likes,</a:t>
            </a:r>
            <a:br/>
            <a:r>
              <a:t>comments, shares, infinite scroll.</a:t>
            </a:r>
            <a:br/>
            <a:r>
              <a:t>4 post types: highlight, training,</a:t>
            </a:r>
            <a:br/>
            <a:r>
              <a:t>match, achievement.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371600"/>
            <a:ext cx="3474720" cy="22860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59" y="15087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4D2FF"/>
                </a:solidFill>
              </a:defRPr>
            </a:pPr>
            <a:r>
              <a:t>AI Scouting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201168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</a:defRPr>
            </a:pPr>
            <a:r>
              <a:t>Claude Opus-powered matching.</a:t>
            </a:r>
            <a:br/>
            <a:r>
              <a:t>Fit scores 0-100 with breakdown.</a:t>
            </a:r>
            <a:br/>
            <a:r>
              <a:t>Smart recommendations.</a:t>
            </a:r>
            <a:br/>
            <a:r>
              <a:t>Profile coaching suggestions.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1371600"/>
            <a:ext cx="3474720" cy="22860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FF9F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9" y="15087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F0A"/>
                </a:solidFill>
              </a:defRPr>
            </a:pPr>
            <a:r>
              <a:t>Messaging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9" y="201168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</a:defRPr>
            </a:pPr>
            <a:r>
              <a:t>Real-time 1-on-1 and group DMs.</a:t>
            </a:r>
            <a:br/>
            <a:r>
              <a:t>Media sharing, read receipts,</a:t>
            </a:r>
            <a:br/>
            <a:r>
              <a:t>post sharing via message.</a:t>
            </a:r>
            <a:br/>
            <a:r>
              <a:t>Unread count badges.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931920"/>
            <a:ext cx="3474720" cy="22860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BF5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0690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F5AF2"/>
                </a:solidFill>
              </a:defRPr>
            </a:pPr>
            <a:r>
              <a:t>Fitness Testing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57200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</a:defRPr>
            </a:pPr>
            <a:r>
              <a:t>5 test types with live audio cues.</a:t>
            </a:r>
            <a:br/>
            <a:r>
              <a:t>6 growth zones (never demotivating).</a:t>
            </a:r>
            <a:br/>
            <a:r>
              <a:t>Coach verification system.</a:t>
            </a:r>
            <a:br/>
            <a:r>
              <a:t>Progress tracking &amp; history.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79" y="3931920"/>
            <a:ext cx="3474720" cy="22860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FF4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59" y="40690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453A"/>
                </a:solidFill>
              </a:defRPr>
            </a:pPr>
            <a:r>
              <a:t>Opportunities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59" y="457200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</a:defRPr>
            </a:pPr>
            <a:r>
              <a:t>Tryouts, tournaments, scholarships,</a:t>
            </a:r>
            <a:br/>
            <a:r>
              <a:t>sponsorship, contracts.</a:t>
            </a:r>
            <a:br/>
            <a:r>
              <a:t>Apply with cover letter.</a:t>
            </a:r>
            <a:br/>
            <a:r>
              <a:t>Team-side application management.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19" y="3931920"/>
            <a:ext cx="3474720" cy="22860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FFD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599" y="40690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60A"/>
                </a:solidFill>
              </a:defRPr>
            </a:pPr>
            <a:r>
              <a:t>Discovery Engine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9" y="457200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</a:defRPr>
            </a:pPr>
            <a:r>
              <a:t>Filter by sport, role, location,</a:t>
            </a:r>
            <a:br/>
            <a:r>
              <a:t>verified status. Trending athletes.</a:t>
            </a:r>
            <a:br/>
            <a:r>
              <a:t>Trigram text search.</a:t>
            </a:r>
            <a:br/>
            <a:r>
              <a:t>5 concurrent filter lists.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0"/>
                </a:solidFill>
              </a:defRPr>
            </a:pPr>
            <a:r>
              <a:t>AI-Powered Scouting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88"/>
                </a:solidFill>
              </a:defRPr>
            </a:pPr>
            <a:r>
              <a:t>Claude Opus 4.6 with adaptive thinking for deep athlete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92240"/>
            <a:ext cx="10972800" cy="127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</a:defRPr>
            </a:pPr>
            <a:r>
              <a:t>OnlyKrida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30D158"/>
                </a:solidFill>
              </a:rPr>
              <a:t>  &gt;  </a:t>
            </a:r>
            <a:r>
              <a:rPr sz="1400">
                <a:solidFill>
                  <a:srgbClr val="F0F0F0"/>
                </a:solidFill>
              </a:rPr>
              <a:t>Scouts set preferences: sport, positions, regions, and weight factors (skill, speed, stamina, position match)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30D158"/>
                </a:solidFill>
              </a:rPr>
              <a:t>  &gt;  </a:t>
            </a:r>
            <a:r>
              <a:rPr sz="1400">
                <a:solidFill>
                  <a:srgbClr val="F0F0F0"/>
                </a:solidFill>
              </a:rPr>
              <a:t>AI analyzes all athlete profiles against scout preferences using Claude Opus with adaptive thinking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30D158"/>
                </a:solidFill>
              </a:rPr>
              <a:t>  &gt;  </a:t>
            </a:r>
            <a:r>
              <a:rPr sz="1400">
                <a:solidFill>
                  <a:srgbClr val="F0F0F0"/>
                </a:solidFill>
              </a:rPr>
              <a:t>Each athlete receives a fit score (0-100) with detailed breakdown by category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30D158"/>
                </a:solidFill>
              </a:rPr>
              <a:t>  &gt;  </a:t>
            </a:r>
            <a:r>
              <a:rPr sz="1400">
                <a:solidFill>
                  <a:srgbClr val="F0F0F0"/>
                </a:solidFill>
              </a:rPr>
              <a:t>Results cached in ai_recommendations table, refreshed every 6 hours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30D158"/>
                </a:solidFill>
              </a:rPr>
              <a:t>  &gt;  </a:t>
            </a:r>
            <a:r>
              <a:rPr sz="1400">
                <a:solidFill>
                  <a:srgbClr val="F0F0F0"/>
                </a:solidFill>
              </a:rPr>
              <a:t>Profile coaching: Claude Sonnet gives athletes 3-5 actionable improvement tips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30D158"/>
                </a:solidFill>
              </a:rPr>
              <a:t>  &gt;  </a:t>
            </a:r>
            <a:r>
              <a:rPr sz="1400">
                <a:solidFill>
                  <a:srgbClr val="F0F0F0"/>
                </a:solidFill>
              </a:rPr>
              <a:t>Opportunity matcher: AI ranks opportunities by athlete fit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30D158"/>
                </a:solidFill>
              </a:rPr>
              <a:t>  &gt;  </a:t>
            </a:r>
            <a:r>
              <a:rPr sz="1400">
                <a:solidFill>
                  <a:srgbClr val="F0F0F0"/>
                </a:solidFill>
              </a:rPr>
              <a:t>Athlete potential analysis: Deep trajectory prediction for long-term scouting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30D158"/>
                </a:solidFill>
              </a:rPr>
              <a:t>  &gt;  </a:t>
            </a:r>
            <a:r>
              <a:rPr sz="1400">
                <a:solidFill>
                  <a:srgbClr val="F0F0F0"/>
                </a:solidFill>
              </a:rPr>
              <a:t>Krida AI Assistant: Full conversational chat for questions about sports, training, careers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0" y="1371600"/>
          <a:ext cx="57607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80"/>
                <a:gridCol w="1440180"/>
                <a:gridCol w="1440180"/>
                <a:gridCol w="1440180"/>
              </a:tblGrid>
              <a:tr h="43434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30D158"/>
                          </a:solidFill>
                        </a:defRPr>
                      </a:pPr>
                      <a:r>
                        <a:t>AI Function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30D158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30D158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30D158"/>
                          </a:solidFill>
                        </a:defRPr>
                      </a:pPr>
                      <a:r>
                        <a:t>Avg Latency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Smart Scout Recommendations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Opus + Thinking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Rank athletes by fit score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3-5s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Athlete Potential Analysis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Opus + Thinking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Deep trajectory prediction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4-6s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Opportunity Matcher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Opus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Match athletes to opportunities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2-4s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Profile Coaching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Sonnet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Improvement suggestions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1-2s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Profile Summary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Sonnet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Scout-readable bio generation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1-2s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Chat Response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Sonnet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Conversational AI assistant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1-2s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Knowledge Search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Sonnet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RAG-style sports knowledge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1-2s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0"/>
                </a:solidFill>
              </a:defRPr>
            </a:pPr>
            <a:r>
              <a:t>Fitness Testing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88"/>
                </a:solidFill>
              </a:defRPr>
            </a:pPr>
            <a:r>
              <a:t>Standardized, verified athletic performance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92240"/>
            <a:ext cx="10972800" cy="127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</a:defRPr>
            </a:pPr>
            <a:r>
              <a:t>OnlyKrida  |  Confidential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64008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  <a:gridCol w="2133600"/>
              </a:tblGrid>
              <a:tr h="42672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30D158"/>
                          </a:solidFill>
                        </a:defRPr>
                      </a:pPr>
                      <a:r>
                        <a:t>Test Type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30D158"/>
                          </a:solidFill>
                        </a:defRPr>
                      </a:pPr>
                      <a:r>
                        <a:t>What It Measures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30D158"/>
                          </a:solidFill>
                        </a:defRPr>
                      </a:pPr>
                      <a:r>
                        <a:t>Zones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Yo-Yo IR1 (Beep Test)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Cardiovascular endurance, VO2max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6 zones: Starter to Unstoppable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20m Sprint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Acceleration, explosive speed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6 zones based on time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40m Sprint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Top-end speed, speed endurance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6 zones based on time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Agility T-Test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Change of direction, agility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6 zones based on time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Vertical Jump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Lower body power, explosiveness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6 zones based on height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4206240"/>
          <a:ext cx="64008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  <a:gridCol w="2133600"/>
              </a:tblGrid>
              <a:tr h="40233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30D158"/>
                          </a:solidFill>
                        </a:defRPr>
                      </a:pPr>
                      <a:r>
                        <a:t>Verification Tier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30D158"/>
                          </a:solidFill>
                        </a:defRPr>
                      </a:pPr>
                      <a:r>
                        <a:t>How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30D158"/>
                          </a:solidFill>
                        </a:defRPr>
                      </a:pPr>
                      <a:r>
                        <a:t>Trust Level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Self-Reported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Athlete enters manually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Low (badge: none)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App-Measured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Live test with phone sensors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Medium (badge: app)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Coach-Verified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Coach attests results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High (badge: coach)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Center-Tested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Official testing center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Highest (badge: verified)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315200" y="1371600"/>
            <a:ext cx="4389120" cy="484632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0D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55448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0D158"/>
                </a:solidFill>
              </a:defRPr>
            </a:pPr>
            <a:r>
              <a:t>Zone Philosophy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2103120"/>
            <a:ext cx="4023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30D158"/>
                </a:solidFill>
              </a:rPr>
              <a:t>  &gt;  </a:t>
            </a:r>
            <a:r>
              <a:rPr sz="1200">
                <a:solidFill>
                  <a:srgbClr val="BBBBBB"/>
                </a:solidFill>
              </a:rPr>
              <a:t>Never demotivating labels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30D158"/>
                </a:solidFill>
              </a:rPr>
              <a:t>  &gt;  </a:t>
            </a:r>
            <a:r>
              <a:rPr sz="1200">
                <a:solidFill>
                  <a:srgbClr val="BBBBBB"/>
                </a:solidFill>
              </a:rPr>
              <a:t>No 'fail', 'poor', or 'beginner'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30D158"/>
                </a:solidFill>
              </a:rPr>
              <a:t>  &gt;  </a:t>
            </a:r>
            <a:r>
              <a:rPr sz="1200">
                <a:solidFill>
                  <a:srgbClr val="BBBBBB"/>
                </a:solidFill>
              </a:rPr>
              <a:t>Growth-oriented language only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30D158"/>
                </a:solidFill>
              </a:rPr>
              <a:t>  &gt;  </a:t>
            </a:r>
            <a:r>
              <a:rPr sz="1200">
                <a:solidFill>
                  <a:srgbClr val="BBBBBB"/>
                </a:solidFill>
              </a:rPr>
              <a:t>Starter = just beginning the journey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30D158"/>
                </a:solidFill>
              </a:rPr>
              <a:t>  &gt;  </a:t>
            </a:r>
            <a:r>
              <a:rPr sz="1200">
                <a:solidFill>
                  <a:srgbClr val="BBBBBB"/>
                </a:solidFill>
              </a:rPr>
              <a:t>Building = actively improving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30D158"/>
                </a:solidFill>
              </a:rPr>
              <a:t>  &gt;  </a:t>
            </a:r>
            <a:r>
              <a:rPr sz="1200">
                <a:solidFill>
                  <a:srgbClr val="BBBBBB"/>
                </a:solidFill>
              </a:rPr>
              <a:t>Rising = showing real potential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30D158"/>
                </a:solidFill>
              </a:rPr>
              <a:t>  &gt;  </a:t>
            </a:r>
            <a:r>
              <a:rPr sz="1200">
                <a:solidFill>
                  <a:srgbClr val="BBBBBB"/>
                </a:solidFill>
              </a:rPr>
              <a:t>Strong = competitive level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30D158"/>
                </a:solidFill>
              </a:rPr>
              <a:t>  &gt;  </a:t>
            </a:r>
            <a:r>
              <a:rPr sz="1200">
                <a:solidFill>
                  <a:srgbClr val="BBBBBB"/>
                </a:solidFill>
              </a:rPr>
              <a:t>Elite = top-tier performer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30D158"/>
                </a:solidFill>
              </a:rPr>
              <a:t>  &gt;  </a:t>
            </a:r>
            <a:r>
              <a:rPr sz="1200">
                <a:solidFill>
                  <a:srgbClr val="BBBBBB"/>
                </a:solidFill>
              </a:rPr>
              <a:t>Unstoppable = world-class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0"/>
                </a:solidFill>
              </a:defRPr>
            </a:pPr>
            <a:r>
              <a:t>9 User Roles, 9 Experiences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88"/>
                </a:solidFill>
              </a:defRPr>
            </a:pPr>
            <a:r>
              <a:t>Every role gets a tailored interface, not a generic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92240"/>
            <a:ext cx="10972800" cy="127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</a:defRPr>
            </a:pPr>
            <a:r>
              <a:t>OnlyKrida  |  Confidential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3474720" cy="14630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0D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8132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0D158"/>
                </a:solidFill>
              </a:defRPr>
            </a:pPr>
            <a:r>
              <a:t>Athlete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7452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</a:defRPr>
            </a:pPr>
            <a:r>
              <a:t>Profile, highlights, fitness tests,</a:t>
            </a:r>
            <a:br/>
            <a:r>
              <a:t>opportunities, AI coaching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371600"/>
            <a:ext cx="3474720" cy="14630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FF9F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59" y="148132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F0A"/>
                </a:solidFill>
              </a:defRPr>
            </a:pPr>
            <a:r>
              <a:t>Scout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187452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</a:defRPr>
            </a:pPr>
            <a:r>
              <a:t>AI recommendations, shortlists,</a:t>
            </a:r>
            <a:br/>
            <a:r>
              <a:t>preferences, athlete comparison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1371600"/>
            <a:ext cx="3474720" cy="14630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9" y="148132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4D2FF"/>
                </a:solidFill>
              </a:defRPr>
            </a:pPr>
            <a:r>
              <a:t>Coach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9" y="187452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</a:defRPr>
            </a:pPr>
            <a:r>
              <a:t>Team roster, athlete management,</a:t>
            </a:r>
            <a:br/>
            <a:r>
              <a:t>verify fitness tests, post content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063240"/>
            <a:ext cx="3474720" cy="14630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FF4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17296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453A"/>
                </a:solidFill>
              </a:defRPr>
            </a:pPr>
            <a:r>
              <a:t>Team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56616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</a:defRPr>
            </a:pPr>
            <a:r>
              <a:t>Create opportunities, manage</a:t>
            </a:r>
            <a:br/>
            <a:r>
              <a:t>applications, team dashboard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79" y="3063240"/>
            <a:ext cx="3474720" cy="14630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BF5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59" y="317296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F5AF2"/>
                </a:solidFill>
              </a:defRPr>
            </a:pPr>
            <a:r>
              <a:t>Fan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59" y="356616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</a:defRPr>
            </a:pPr>
            <a:r>
              <a:t>Follow athletes, trending feed,</a:t>
            </a:r>
            <a:br/>
            <a:r>
              <a:t>sports news, engagement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19" y="3063240"/>
            <a:ext cx="3474720" cy="14630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0D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599" y="317296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0D158"/>
                </a:solidFill>
              </a:defRPr>
            </a:pPr>
            <a:r>
              <a:t>Trainer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9" y="356616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</a:defRPr>
            </a:pPr>
            <a:r>
              <a:t>Training content, certifications,</a:t>
            </a:r>
            <a:br/>
            <a:r>
              <a:t>athlete connections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754880"/>
            <a:ext cx="3474720" cy="14630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FF9F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8646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F0A"/>
                </a:solidFill>
              </a:defRPr>
            </a:pPr>
            <a:r>
              <a:t>Gym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25780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</a:defRPr>
            </a:pPr>
            <a:r>
              <a:t>Facility showcase, programs,</a:t>
            </a:r>
            <a:br/>
            <a:r>
              <a:t>membership, athlete network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97679" y="4754880"/>
            <a:ext cx="3474720" cy="14630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0559" y="48646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4D2FF"/>
                </a:solidFill>
              </a:defRPr>
            </a:pPr>
            <a:r>
              <a:t>Brand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59" y="525780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</a:defRPr>
            </a:pPr>
            <a:r>
              <a:t>Sponsorship opportunities,</a:t>
            </a:r>
            <a:br/>
            <a:r>
              <a:t>athlete search, campaign tools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19" y="4754880"/>
            <a:ext cx="3474720" cy="14630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FF4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599" y="48646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453A"/>
                </a:solidFill>
              </a:defRPr>
            </a:pPr>
            <a:r>
              <a:t>Academy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599" y="525780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</a:defRPr>
            </a:pPr>
            <a:r>
              <a:t>Student athletes, programs,</a:t>
            </a:r>
            <a:br/>
            <a:r>
              <a:t>recruitment, performance tracking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0"/>
                </a:solidFill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88"/>
                </a:solidFill>
              </a:defRPr>
            </a:pPr>
            <a:r>
              <a:t>Modern, scalable, cost-efficient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92240"/>
            <a:ext cx="10972800" cy="127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</a:defRPr>
            </a:pPr>
            <a:r>
              <a:t>OnlyKrida  |  Confidential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1097280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0386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30D158"/>
                          </a:solidFill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30D158"/>
                          </a:solidFill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30D158"/>
                          </a:solidFill>
                        </a:defRPr>
                      </a:pPr>
                      <a:r>
                        <a:t>Why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Frontend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React Native (Expo SDK 54)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Cross-platform iOS/Android/Web from one codebase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Language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TypeScript 5.9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Type safety across 6300+ LOC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Routing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Expo Router 6 (file-based)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Next.js-style routing for React Native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Backend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Supabase (PostgreSQL + Auth + Storage + Realtime)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Firebase alternative with SQL power, RLS security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AI Engine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Claude API (Opus 4.6 + Sonnet 4.6)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Best-in-class reasoning for scouting analysis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State Mgmt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12 React Context providers + React Query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Server state caching + local state management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Media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expo-image (cached) + expo-video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Disk/memory caching, blurhash placeholders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Icons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Lucide React Native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700+ consistent SVG icons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Notifications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expo-notifications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Push notification infrastructure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Build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EAS Build + EAS Submit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Cloud builds for iOS/Android distribution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Search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PostgreSQL pg_trgm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Trigram fuzzy text search on names/locations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0"/>
                </a:solidFill>
              </a:defRPr>
            </a:pPr>
            <a:r>
              <a:t>Database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88"/>
                </a:solidFill>
              </a:defRPr>
            </a:pPr>
            <a:r>
              <a:t>13 PostgreSQL tables with Row-Level Security on every 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92240"/>
            <a:ext cx="10972800" cy="127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</a:defRPr>
            </a:pPr>
            <a:r>
              <a:t>OnlyKrida  |  Confidential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371600"/>
          <a:ext cx="1143000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346165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30D158"/>
                          </a:solidFill>
                        </a:defRPr>
                      </a:pPr>
                      <a:r>
                        <a:t>Table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30D158"/>
                          </a:solidFill>
                        </a:defRPr>
                      </a:pPr>
                      <a:r>
                        <a:t>Rows (est.)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30D158"/>
                          </a:solidFill>
                        </a:defRPr>
                      </a:pPr>
                      <a:r>
                        <a:t>Key Columns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30D158"/>
                          </a:solidFill>
                        </a:defRPr>
                      </a:pPr>
                      <a:r>
                        <a:t>Security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profiles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Users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role, sport, position, achievements (JSONB), stats (JSONB), verified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Public read, own update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posts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Content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type, image_url, video_url, likes/comments/views counts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Public read, own CRUD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opportunities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Jobs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category, sport, location, deadline, requirements, compensation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Public read, team CRUD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applications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Apps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opportunity_id, athlete_id, status, cover_letter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Applicant + owner only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messages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DMs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sender_id, receiver_id, content, media_url, status, read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Sender/receiver only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notifications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Alerts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type (11 types), title, message, read, data (JSONB)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Own user only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follows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Graph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follower_id, following_id (unique, no self-follows)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Public read, own CRUD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likes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Engage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user_id, post_id (unique pair)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Public read, own CRUD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comments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Engage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user_id, post_id, content, likes_count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Public read, own CRUD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player_stats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Stats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sport, position, skill/speed/stamina (0-100)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Public read, own CRUD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scout_preferences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Config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sport, positions[], weight_skill/speed/stamina/position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Own user CRUD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ai_recommendations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AI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scout_id, player_id, fit_score, breakdown (JSONB)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Public read, own CRUD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46175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comment_likes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Engage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user_id, comment_id (unique pair)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Public read, own CRUD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0"/>
                </a:solidFill>
              </a:defRPr>
            </a:pPr>
            <a: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88"/>
                </a:solidFill>
              </a:defRPr>
            </a:pPr>
            <a:r>
              <a:t>Free for athletes forever — monetize the demand side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92240"/>
            <a:ext cx="10972800" cy="127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</a:defRPr>
            </a:pPr>
            <a:r>
              <a:t>OnlyKrida  |  Confidential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41148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30D158"/>
                          </a:solidFill>
                        </a:defRPr>
                      </a:pPr>
                      <a:r>
                        <a:t>Revenue Stream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30D158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30D158"/>
                          </a:solidFill>
                        </a:defRPr>
                      </a:pPr>
                      <a:r>
                        <a:t>Pricing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30D158"/>
                          </a:solidFill>
                        </a:defRPr>
                      </a:pPr>
                      <a:r>
                        <a:t>Est. Year 1 Revenue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Scout Basic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Independent scouts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Rs 999/mo ($12)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Rs 6L ($7.2K)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Scout Pro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Agency scouts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Rs 2,499/mo ($30)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Rs 15L ($18K)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Scout Enterprise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Federations, ISL/IPL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Rs 9,999/mo ($120)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Rs 12L ($14.4K)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Team Starter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Local clubs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Rs 1,999/mo ($24)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Rs 12L ($14.4K)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Team Pro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Professional teams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Rs 4,999/mo ($60)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Rs 18L ($21.6K)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Brand Sponsorship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Sports brands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Rs 25K-2L/campaign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Rs 30L ($36K)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Featured Opportunities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Teams posting tryouts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Rs 500/listing boost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Rs 6L ($7.2K)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Data Insights API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Analysts, media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Rs 4,999/mo ($60)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Rs 6L ($7.2K) (Phase 2)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TOTAL YEAR 1 (est.)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Rs 1.05 Cr ($126K)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5669280"/>
            <a:ext cx="10972800" cy="6400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0D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715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0D158"/>
                </a:solidFill>
              </a:defRPr>
            </a:pPr>
            <a:r>
              <a:t>Key principle: Athletes never pay. The platform's value grows with athlete volume, which drives scout/team willingness to pay.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0"/>
                </a:solidFill>
              </a:defRPr>
            </a:pPr>
            <a:r>
              <a:t>Revenue Projections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88"/>
                </a:solidFill>
              </a:defRPr>
            </a:pPr>
            <a:r>
              <a:t>Conservative estimates based on Indian sports market benchmarks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92240"/>
            <a:ext cx="10972800" cy="127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</a:defRPr>
            </a:pPr>
            <a:r>
              <a:t>OnlyKrida  |  Confidential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1097280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346165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30D158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30D158"/>
                          </a:solidFill>
                        </a:defRPr>
                      </a:pPr>
                      <a:r>
                        <a:t>Year 1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30D158"/>
                          </a:solidFill>
                        </a:defRPr>
                      </a:pPr>
                      <a:r>
                        <a:t>Year 2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30D158"/>
                          </a:solidFill>
                        </a:defRPr>
                      </a:pPr>
                      <a:r>
                        <a:t>Year 3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Total Users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50,000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250,000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1,000,000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Athletes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40,000 (80%)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200,000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800,000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Scouts (paid)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300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1,200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Teams (paid)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200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800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Brands (active)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Monthly Recurring Revenue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Rs 8.75L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Rs 52.5L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Rs 2.1 Cr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Annual Revenue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Rs 1.05 Cr ($126K)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Rs 6.3 Cr ($756K)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Rs 25.2 Cr ($3M)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Gross Margin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85%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82%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80%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CAC (Athletes)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Rs 50 ($0.60)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Rs 30 ($0.36)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Rs 15 ($0.18)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CAC (Scouts)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Rs 5,000 ($60)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Rs 3,000 ($36)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Rs 2,000 ($24)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LTV:CAC (Scouts)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6x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10x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15x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Monthly Burn Rate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Rs 5L ($6K)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Rs 25L ($30K)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Rs 80L ($96K)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46175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Break-even Month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Month 18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0"/>
                </a:solidFill>
              </a:defRPr>
            </a:pPr>
            <a:r>
              <a:t>Go-to-Market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88"/>
                </a:solidFill>
              </a:defRPr>
            </a:pPr>
            <a:r>
              <a:t>India first, then Dubai and global expansion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92240"/>
            <a:ext cx="10972800" cy="127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</a:defRPr>
            </a:pPr>
            <a:r>
              <a:t>OnlyKrida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30D158"/>
                </a:solidFill>
              </a:rPr>
              <a:t>  &gt;  </a:t>
            </a:r>
            <a:r>
              <a:rPr sz="1400">
                <a:solidFill>
                  <a:srgbClr val="F0F0F0"/>
                </a:solidFill>
              </a:rPr>
              <a:t>Phase 1 (Months 1-6): 5 Indian cities — Mumbai, Delhi, Bangalore, Chennai, Kolkata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30D158"/>
                </a:solidFill>
              </a:rPr>
              <a:t>  &gt;  </a:t>
            </a:r>
            <a:r>
              <a:rPr sz="1400">
                <a:solidFill>
                  <a:srgbClr val="F0F0F0"/>
                </a:solidFill>
              </a:rPr>
              <a:t>Phase 2 (Months 7-12): Tier 2 cities — Pune, Hyderabad, Ahmedabad, Jaipur, Lucknow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30D158"/>
                </a:solidFill>
              </a:rPr>
              <a:t>  &gt;  </a:t>
            </a:r>
            <a:r>
              <a:rPr sz="1400">
                <a:solidFill>
                  <a:srgbClr val="F0F0F0"/>
                </a:solidFill>
              </a:rPr>
              <a:t>Phase 3 (Year 2): Dubai / UAE — Indian expat athlete community + Middle East sports market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30D158"/>
                </a:solidFill>
              </a:rPr>
              <a:t>  &gt;  </a:t>
            </a:r>
            <a:r>
              <a:rPr sz="1400">
                <a:solidFill>
                  <a:srgbClr val="F0F0F0"/>
                </a:solidFill>
              </a:rPr>
              <a:t>Phase 4 (Year 3): Southeast Asia — similar grassroots talent discovery gaps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840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0D158"/>
                </a:solidFill>
              </a:defRPr>
            </a:pPr>
            <a:r>
              <a:t>Growth Channels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2976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30D158"/>
                </a:solidFill>
              </a:rPr>
              <a:t>  &gt;  </a:t>
            </a:r>
            <a:r>
              <a:rPr sz="1300">
                <a:solidFill>
                  <a:srgbClr val="F0F0F0"/>
                </a:solidFill>
              </a:rPr>
              <a:t>College sports departments — bulk onboarding of entire teams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0D158"/>
                </a:solidFill>
              </a:rPr>
              <a:t>  &gt;  </a:t>
            </a:r>
            <a:r>
              <a:rPr sz="1300">
                <a:solidFill>
                  <a:srgbClr val="F0F0F0"/>
                </a:solidFill>
              </a:rPr>
              <a:t>Sports academies — partnership for fitness test verification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0D158"/>
                </a:solidFill>
              </a:rPr>
              <a:t>  &gt;  </a:t>
            </a:r>
            <a:r>
              <a:rPr sz="1300">
                <a:solidFill>
                  <a:srgbClr val="F0F0F0"/>
                </a:solidFill>
              </a:rPr>
              <a:t>Coaches as ambassadors — each coach brings 20-50 athletes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0D158"/>
                </a:solidFill>
              </a:rPr>
              <a:t>  &gt;  </a:t>
            </a:r>
            <a:r>
              <a:rPr sz="1300">
                <a:solidFill>
                  <a:srgbClr val="F0F0F0"/>
                </a:solidFill>
              </a:rPr>
              <a:t>Social media — athlete highlight reels go viral (TikTok/Reels/Shorts)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0D158"/>
                </a:solidFill>
              </a:rPr>
              <a:t>  &gt;  </a:t>
            </a:r>
            <a:r>
              <a:rPr sz="1300">
                <a:solidFill>
                  <a:srgbClr val="F0F0F0"/>
                </a:solidFill>
              </a:rPr>
              <a:t>Sports federation partnerships — official talent identification tool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303520" cy="484632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0D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0D158"/>
                </a:solidFill>
              </a:defRPr>
            </a:pPr>
            <a:r>
              <a:t>India Sports Market Snapshot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0312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30D158"/>
                </a:solidFill>
              </a:rPr>
              <a:t>  &gt;  </a:t>
            </a:r>
            <a:r>
              <a:rPr sz="1200">
                <a:solidFill>
                  <a:srgbClr val="BBBBBB"/>
                </a:solidFill>
              </a:rPr>
              <a:t>65% of India's population is under 35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30D158"/>
                </a:solidFill>
              </a:rPr>
              <a:t>  &gt;  </a:t>
            </a:r>
            <a:r>
              <a:rPr sz="1200">
                <a:solidFill>
                  <a:srgbClr val="BBBBBB"/>
                </a:solidFill>
              </a:rPr>
              <a:t>Cricket alone has 200M+ active players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30D158"/>
                </a:solidFill>
              </a:rPr>
              <a:t>  &gt;  </a:t>
            </a:r>
            <a:r>
              <a:rPr sz="1200">
                <a:solidFill>
                  <a:srgbClr val="BBBBBB"/>
                </a:solidFill>
              </a:rPr>
              <a:t>Football growing at 30% YoY in participation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30D158"/>
                </a:solidFill>
              </a:rPr>
              <a:t>  &gt;  </a:t>
            </a:r>
            <a:r>
              <a:rPr sz="1200">
                <a:solidFill>
                  <a:srgbClr val="BBBBBB"/>
                </a:solidFill>
              </a:rPr>
              <a:t>Kabaddi Pro League created $100M market in 5 years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30D158"/>
                </a:solidFill>
              </a:rPr>
              <a:t>  &gt;  </a:t>
            </a:r>
            <a:r>
              <a:rPr sz="1200">
                <a:solidFill>
                  <a:srgbClr val="BBBBBB"/>
                </a:solidFill>
              </a:rPr>
              <a:t>Government 'Khelo India' program: Rs 1,756 Cr budget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30D158"/>
                </a:solidFill>
              </a:rPr>
              <a:t>  &gt;  </a:t>
            </a:r>
            <a:r>
              <a:rPr sz="1200">
                <a:solidFill>
                  <a:srgbClr val="BBBBBB"/>
                </a:solidFill>
              </a:rPr>
              <a:t>IPL proved Indian sports = massive commercial opportunity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30D158"/>
                </a:solidFill>
              </a:rPr>
              <a:t>  &gt;  </a:t>
            </a:r>
            <a:r>
              <a:rPr sz="1200">
                <a:solidFill>
                  <a:srgbClr val="BBBBBB"/>
                </a:solidFill>
              </a:rPr>
              <a:t>Zero tech platforms serve grassroots athletes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30D158"/>
                </a:solidFill>
              </a:rPr>
              <a:t>  &gt;  </a:t>
            </a:r>
            <a:r>
              <a:rPr sz="1200">
                <a:solidFill>
                  <a:srgbClr val="BBBBBB"/>
                </a:solidFill>
              </a:rPr>
              <a:t>OnlyKrida is first-mover in this space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0"/>
                </a:solidFill>
              </a:defRPr>
            </a:pPr>
            <a:r>
              <a:t>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88"/>
                </a:solidFill>
              </a:defRPr>
            </a:pPr>
            <a:r>
              <a:t>No direct competitor serves India's grassroots athletes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92240"/>
            <a:ext cx="10972800" cy="127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</a:defRPr>
            </a:pPr>
            <a:r>
              <a:t>OnlyKrida  |  Confidential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371600"/>
          <a:ext cx="1143000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1905000"/>
                <a:gridCol w="1905000"/>
                <a:gridCol w="1905000"/>
                <a:gridCol w="1905000"/>
                <a:gridCol w="1905000"/>
              </a:tblGrid>
              <a:tr h="40386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30D158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30D158"/>
                          </a:solidFill>
                        </a:defRPr>
                      </a:pPr>
                      <a:r>
                        <a:t>OnlyKrida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30D158"/>
                          </a:solidFill>
                        </a:defRPr>
                      </a:pPr>
                      <a:r>
                        <a:t>Hudl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30D158"/>
                          </a:solidFill>
                        </a:defRPr>
                      </a:pPr>
                      <a:r>
                        <a:t>NCSA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30D158"/>
                          </a:solidFill>
                        </a:defRPr>
                      </a:pPr>
                      <a:r>
                        <a:t>TransferMarkt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30D158"/>
                          </a:solidFill>
                        </a:defRPr>
                      </a:pPr>
                      <a:r>
                        <a:t>SportsRecruits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India Focus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YES (primary)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No (US only)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Partial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No (US only)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Free for Athletes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YES (forever)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Freemium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No ($)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Free (view)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No ($)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AI Scouting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YES (Claude AI)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Basic analytics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Fitness Testing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YES (5 types)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Social Feed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YES (Instagram-like)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Limited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Forum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Messaging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YES (real-time)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9 User Roles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2 roles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3 roles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View only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3 roles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Opportunities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YES (5 categories)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Limited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Transfer only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Scholarships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Multi-sport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YES (all sports)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US football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US college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Football (soccer)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US college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Mobile App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YES (iOS/Android/Web)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Limited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Verification System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YES (4 tiers)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Editorial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0"/>
                </a:solidFill>
              </a:defRPr>
            </a:pPr>
            <a:r>
              <a:t>MVP Traction &amp;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88"/>
                </a:solidFill>
              </a:defRPr>
            </a:pPr>
            <a:r>
              <a:t>Fully functional platform — ready for user acquisition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92240"/>
            <a:ext cx="10972800" cy="127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</a:defRPr>
            </a:pPr>
            <a:r>
              <a:t>OnlyKrida  |  Confidential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2560320" cy="10972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0D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0D158"/>
                </a:solidFill>
              </a:defRPr>
            </a:pPr>
            <a:r>
              <a:t>47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574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BB"/>
                </a:solidFill>
              </a:defRPr>
            </a:pPr>
            <a:r>
              <a:t>Components Built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463040"/>
            <a:ext cx="2560320" cy="10972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0D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5544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0D158"/>
                </a:solidFill>
              </a:defRPr>
            </a:pPr>
            <a:r>
              <a:t>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0574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BB"/>
                </a:solidFill>
              </a:defRPr>
            </a:pPr>
            <a:r>
              <a:t>Database Tables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463040"/>
            <a:ext cx="2560320" cy="10972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0D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5544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0D158"/>
                </a:solidFill>
              </a:defRPr>
            </a:pPr>
            <a:r>
              <a:t>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0574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BB"/>
                </a:solidFill>
              </a:defRPr>
            </a:pPr>
            <a:r>
              <a:t>Context Providers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1463040"/>
            <a:ext cx="2560320" cy="10972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0D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0" y="15544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0D158"/>
                </a:solidFill>
              </a:defRPr>
            </a:pPr>
            <a:r>
              <a:t>6,300+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20574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BB"/>
                </a:solidFill>
              </a:defRPr>
            </a:pPr>
            <a:r>
              <a:t>Lines of Code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834640"/>
            <a:ext cx="2560320" cy="10972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0D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9260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0D158"/>
                </a:solidFill>
              </a:defRPr>
            </a:pPr>
            <a:r>
              <a:t>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429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BB"/>
                </a:solidFill>
              </a:defRPr>
            </a:pPr>
            <a:r>
              <a:t>User Roles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83280" y="2834640"/>
            <a:ext cx="2560320" cy="10972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0D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0" y="29260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0D158"/>
                </a:solidFill>
              </a:defRPr>
            </a:pPr>
            <a: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3429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BB"/>
                </a:solidFill>
              </a:defRPr>
            </a:pPr>
            <a:r>
              <a:t>AI Functions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2834640"/>
            <a:ext cx="2560320" cy="10972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0D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29260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0D158"/>
                </a:solidFill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429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BB"/>
                </a:solidFill>
              </a:defRPr>
            </a:pPr>
            <a:r>
              <a:t>Fitness Test Types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52560" y="2834640"/>
            <a:ext cx="2560320" cy="10972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0D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52560" y="29260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0D158"/>
                </a:solidFill>
              </a:defRPr>
            </a:pPr>
            <a:r>
              <a:t>20+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3429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BB"/>
                </a:solidFill>
              </a:defRPr>
            </a:pPr>
            <a:r>
              <a:t>Screens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389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0D158"/>
                </a:solidFill>
              </a:defRPr>
            </a:pPr>
            <a:r>
              <a:t>Features Completed in MVP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84632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30D158"/>
                </a:solidFill>
              </a:rPr>
              <a:t>  &gt;  </a:t>
            </a:r>
            <a:r>
              <a:rPr sz="1300">
                <a:solidFill>
                  <a:srgbClr val="F0F0F0"/>
                </a:solidFill>
              </a:rPr>
              <a:t>Complete authentication with 5 role-specific signup forms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0D158"/>
                </a:solidFill>
              </a:rPr>
              <a:t>  &gt;  </a:t>
            </a:r>
            <a:r>
              <a:rPr sz="1300">
                <a:solidFill>
                  <a:srgbClr val="F0F0F0"/>
                </a:solidFill>
              </a:rPr>
              <a:t>6 role-specific home dashboards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0D158"/>
                </a:solidFill>
              </a:rPr>
              <a:t>  &gt;  </a:t>
            </a:r>
            <a:r>
              <a:rPr sz="1300">
                <a:solidFill>
                  <a:srgbClr val="F0F0F0"/>
                </a:solidFill>
              </a:rPr>
              <a:t>Real-time messaging (1-on-1 + group)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0D158"/>
                </a:solidFill>
              </a:rPr>
              <a:t>  &gt;  </a:t>
            </a:r>
            <a:r>
              <a:rPr sz="1300">
                <a:solidFill>
                  <a:srgbClr val="F0F0F0"/>
                </a:solidFill>
              </a:rPr>
              <a:t>AI scouting with Claude Opus fit scores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484632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30D158"/>
                </a:solidFill>
              </a:rPr>
              <a:t>  &gt;  </a:t>
            </a:r>
            <a:r>
              <a:rPr sz="1300">
                <a:solidFill>
                  <a:srgbClr val="F0F0F0"/>
                </a:solidFill>
              </a:rPr>
              <a:t>Fitness testing with 5 types and verification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0D158"/>
                </a:solidFill>
              </a:rPr>
              <a:t>  &gt;  </a:t>
            </a:r>
            <a:r>
              <a:rPr sz="1300">
                <a:solidFill>
                  <a:srgbClr val="F0F0F0"/>
                </a:solidFill>
              </a:rPr>
              <a:t>Opportunity marketplace with applications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0D158"/>
                </a:solidFill>
              </a:rPr>
              <a:t>  &gt;  </a:t>
            </a:r>
            <a:r>
              <a:rPr sz="1300">
                <a:solidFill>
                  <a:srgbClr val="F0F0F0"/>
                </a:solidFill>
              </a:rPr>
              <a:t>Content feed with image/video support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0D158"/>
                </a:solidFill>
              </a:rPr>
              <a:t>  &gt;  </a:t>
            </a:r>
            <a:r>
              <a:rPr sz="1300">
                <a:solidFill>
                  <a:srgbClr val="F0F0F0"/>
                </a:solidFill>
              </a:rPr>
              <a:t>Supabase backend with RLS security on every table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0"/>
                </a:solidFill>
              </a:defRPr>
            </a:pPr>
            <a:r>
              <a:t>Product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88"/>
                </a:solidFill>
              </a:defRPr>
            </a:pPr>
            <a:r>
              <a:t>3-phase plan from MVP to scale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92240"/>
            <a:ext cx="10972800" cy="127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</a:defRPr>
            </a:pPr>
            <a:r>
              <a:t>OnlyKrida  |  Confidential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3474720" cy="484632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0D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0D158"/>
                </a:solidFill>
              </a:defRPr>
            </a:pPr>
            <a:r>
              <a:t>Phase 1: MVP (DONE)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3200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30D158"/>
                </a:solidFill>
              </a:rPr>
              <a:t>  &gt;  </a:t>
            </a:r>
            <a:r>
              <a:rPr sz="1200">
                <a:solidFill>
                  <a:srgbClr val="BBBBBB"/>
                </a:solidFill>
              </a:rPr>
              <a:t>9-role authentication system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30D158"/>
                </a:solidFill>
              </a:rPr>
              <a:t>  &gt;  </a:t>
            </a:r>
            <a:r>
              <a:rPr sz="1200">
                <a:solidFill>
                  <a:srgbClr val="BBBBBB"/>
                </a:solidFill>
              </a:rPr>
              <a:t>Social feed with media uploads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30D158"/>
                </a:solidFill>
              </a:rPr>
              <a:t>  &gt;  </a:t>
            </a:r>
            <a:r>
              <a:rPr sz="1200">
                <a:solidFill>
                  <a:srgbClr val="BBBBBB"/>
                </a:solidFill>
              </a:rPr>
              <a:t>AI scouting (Claude Opus/Sonnet)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30D158"/>
                </a:solidFill>
              </a:rPr>
              <a:t>  &gt;  </a:t>
            </a:r>
            <a:r>
              <a:rPr sz="1200">
                <a:solidFill>
                  <a:srgbClr val="BBBBBB"/>
                </a:solidFill>
              </a:rPr>
              <a:t>Fitness testing (5 types, 6 zones)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30D158"/>
                </a:solidFill>
              </a:rPr>
              <a:t>  &gt;  </a:t>
            </a:r>
            <a:r>
              <a:rPr sz="1200">
                <a:solidFill>
                  <a:srgbClr val="BBBBBB"/>
                </a:solidFill>
              </a:rPr>
              <a:t>Real-time messaging &amp; notifications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30D158"/>
                </a:solidFill>
              </a:rPr>
              <a:t>  &gt;  </a:t>
            </a:r>
            <a:r>
              <a:rPr sz="1200">
                <a:solidFill>
                  <a:srgbClr val="BBBBBB"/>
                </a:solidFill>
              </a:rPr>
              <a:t>Opportunity marketplace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30D158"/>
                </a:solidFill>
              </a:rPr>
              <a:t>  &gt;  </a:t>
            </a:r>
            <a:r>
              <a:rPr sz="1200">
                <a:solidFill>
                  <a:srgbClr val="BBBBBB"/>
                </a:solidFill>
              </a:rPr>
              <a:t>Discovery engine with filters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371600"/>
            <a:ext cx="3474720" cy="484632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FF9F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59" y="15087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F0A"/>
                </a:solidFill>
              </a:defRPr>
            </a:pPr>
            <a:r>
              <a:t>Phase 2: Growth (Q2-Q3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39" y="2011680"/>
            <a:ext cx="3200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FF9F0A"/>
                </a:solidFill>
              </a:rPr>
              <a:t>  &gt;  </a:t>
            </a:r>
            <a:r>
              <a:rPr sz="1200">
                <a:solidFill>
                  <a:srgbClr val="BBBBBB"/>
                </a:solidFill>
              </a:rPr>
              <a:t>Payment integration (Razorpay)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9F0A"/>
                </a:solidFill>
              </a:rPr>
              <a:t>  &gt;  </a:t>
            </a:r>
            <a:r>
              <a:rPr sz="1200">
                <a:solidFill>
                  <a:srgbClr val="BBBBBB"/>
                </a:solidFill>
              </a:rPr>
              <a:t>Admin dashboard &amp; moderation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9F0A"/>
                </a:solidFill>
              </a:rPr>
              <a:t>  &gt;  </a:t>
            </a:r>
            <a:r>
              <a:rPr sz="1200">
                <a:solidFill>
                  <a:srgbClr val="BBBBBB"/>
                </a:solidFill>
              </a:rPr>
              <a:t>Push notifications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9F0A"/>
                </a:solidFill>
              </a:rPr>
              <a:t>  &gt;  </a:t>
            </a:r>
            <a:r>
              <a:rPr sz="1200">
                <a:solidFill>
                  <a:srgbClr val="BBBBBB"/>
                </a:solidFill>
              </a:rPr>
              <a:t>Analytics &amp; event tracking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9F0A"/>
                </a:solidFill>
              </a:rPr>
              <a:t>  &gt;  </a:t>
            </a:r>
            <a:r>
              <a:rPr sz="1200">
                <a:solidFill>
                  <a:srgbClr val="BBBBBB"/>
                </a:solidFill>
              </a:rPr>
              <a:t>Performance optimization sprint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9F0A"/>
                </a:solidFill>
              </a:rPr>
              <a:t>  &gt;  </a:t>
            </a:r>
            <a:r>
              <a:rPr sz="1200">
                <a:solidFill>
                  <a:srgbClr val="BBBBBB"/>
                </a:solidFill>
              </a:rPr>
              <a:t>Video streaming (HLS/Mux)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9F0A"/>
                </a:solidFill>
              </a:rPr>
              <a:t>  &gt;  </a:t>
            </a:r>
            <a:r>
              <a:rPr sz="1200">
                <a:solidFill>
                  <a:srgbClr val="BBBBBB"/>
                </a:solidFill>
              </a:rPr>
              <a:t>CI/CD pipeline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1371600"/>
            <a:ext cx="3474720" cy="484632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9" y="15087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4D2FF"/>
                </a:solidFill>
              </a:defRPr>
            </a:pPr>
            <a:r>
              <a:t>Phase 3: Scale (Q4 2026+)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2011680"/>
            <a:ext cx="3200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64D2FF"/>
                </a:solidFill>
              </a:rPr>
              <a:t>  &gt;  </a:t>
            </a:r>
            <a:r>
              <a:rPr sz="1200">
                <a:solidFill>
                  <a:srgbClr val="BBBBBB"/>
                </a:solidFill>
              </a:rPr>
              <a:t>ML-powered recommendation engine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64D2FF"/>
                </a:solidFill>
              </a:rPr>
              <a:t>  &gt;  </a:t>
            </a:r>
            <a:r>
              <a:rPr sz="1200">
                <a:solidFill>
                  <a:srgbClr val="BBBBBB"/>
                </a:solidFill>
              </a:rPr>
              <a:t>Video analysis (pose detection)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64D2FF"/>
                </a:solidFill>
              </a:rPr>
              <a:t>  &gt;  </a:t>
            </a:r>
            <a:r>
              <a:rPr sz="1200">
                <a:solidFill>
                  <a:srgbClr val="BBBBBB"/>
                </a:solidFill>
              </a:rPr>
              <a:t>Live match streaming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64D2FF"/>
                </a:solidFill>
              </a:rPr>
              <a:t>  &gt;  </a:t>
            </a:r>
            <a:r>
              <a:rPr sz="1200">
                <a:solidFill>
                  <a:srgbClr val="BBBBBB"/>
                </a:solidFill>
              </a:rPr>
              <a:t>Advanced analytics dashboard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64D2FF"/>
                </a:solidFill>
              </a:rPr>
              <a:t>  &gt;  </a:t>
            </a:r>
            <a:r>
              <a:rPr sz="1200">
                <a:solidFill>
                  <a:srgbClr val="BBBBBB"/>
                </a:solidFill>
              </a:rPr>
              <a:t>International expansion (Dubai)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64D2FF"/>
                </a:solidFill>
              </a:rPr>
              <a:t>  &gt;  </a:t>
            </a:r>
            <a:r>
              <a:rPr sz="1200">
                <a:solidFill>
                  <a:srgbClr val="BBBBBB"/>
                </a:solidFill>
              </a:rPr>
              <a:t>i18n (Hindi, Tamil, Arabic)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64D2FF"/>
                </a:solidFill>
              </a:rPr>
              <a:t>  &gt;  </a:t>
            </a:r>
            <a:r>
              <a:rPr sz="1200">
                <a:solidFill>
                  <a:srgbClr val="BBBBBB"/>
                </a:solidFill>
              </a:rPr>
              <a:t>Offline-first architecture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0"/>
                </a:solidFill>
              </a:defRPr>
            </a:pPr>
            <a:r>
              <a:t>Top 5 Immediate Priorities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88"/>
                </a:solidFill>
              </a:defRPr>
            </a:pPr>
            <a:r>
              <a:t>Critical improvements before scaling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92240"/>
            <a:ext cx="10972800" cy="127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</a:defRPr>
            </a:pPr>
            <a:r>
              <a:t>OnlyKrida  |  Confidential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9601200" cy="8686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FF4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4475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53A"/>
                </a:solidFill>
              </a:defRPr>
            </a:pPr>
            <a:r>
              <a:t>P0: Secure AI API Key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</a:defRPr>
            </a:pPr>
            <a:r>
              <a:t>Move Anthropic API key from client to Supabase Edge Function.</a:t>
            </a:r>
            <a:br/>
            <a:r>
              <a:t>Currently exposed in JS bundle — critical security vulnerability.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332720" y="1554480"/>
            <a:ext cx="1371600" cy="457200"/>
          </a:xfrm>
          <a:prstGeom prst="roundRect">
            <a:avLst/>
          </a:prstGeom>
          <a:solidFill>
            <a:srgbClr val="FF4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0" y="157276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0F1A"/>
                </a:solidFill>
              </a:defRPr>
            </a:pPr>
            <a:r>
              <a:t>3 days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377440"/>
            <a:ext cx="9601200" cy="8686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FF4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45059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53A"/>
                </a:solidFill>
              </a:defRPr>
            </a:pPr>
            <a:r>
              <a:t>P0: Automated Testing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7889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</a:defRPr>
            </a:pPr>
            <a:r>
              <a:t>Zero tests today. Need Jest + RTL for contexts, Maestro for E2E.</a:t>
            </a:r>
            <a:br/>
            <a:r>
              <a:t>Target 70% coverage on business logic before scaling.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332720" y="2560320"/>
            <a:ext cx="1371600" cy="457200"/>
          </a:xfrm>
          <a:prstGeom prst="roundRect">
            <a:avLst/>
          </a:prstGeom>
          <a:solidFill>
            <a:srgbClr val="FF4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32720" y="257860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0F1A"/>
                </a:solidFill>
              </a:defRPr>
            </a:pPr>
            <a:r>
              <a:t>3 weeks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383280"/>
            <a:ext cx="9601200" cy="8686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FF4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4564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53A"/>
                </a:solidFill>
              </a:defRPr>
            </a:pPr>
            <a:r>
              <a:t>P0: Admin 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9476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</a:defRPr>
            </a:pPr>
            <a:r>
              <a:t>No content moderation, user management, or analytics visibility.</a:t>
            </a:r>
            <a:br/>
            <a:r>
              <a:t>Required for IT Act compliance and operational control.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332720" y="3566160"/>
            <a:ext cx="1371600" cy="457200"/>
          </a:xfrm>
          <a:prstGeom prst="roundRect">
            <a:avLst/>
          </a:prstGeom>
          <a:solidFill>
            <a:srgbClr val="FF4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32720" y="358444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0F1A"/>
                </a:solidFill>
              </a:defRPr>
            </a:pPr>
            <a:r>
              <a:t>4 weeks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389120"/>
            <a:ext cx="9601200" cy="8686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FF9F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4622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F0A"/>
                </a:solidFill>
              </a:defRPr>
            </a:pPr>
            <a:r>
              <a:t>P1: Payment Integration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8006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</a:defRPr>
            </a:pPr>
            <a:r>
              <a:t>No revenue path. Razorpay for India + Stripe for international.</a:t>
            </a:r>
            <a:br/>
            <a:r>
              <a:t>Scout/Team subscriptions are the primary revenue stream.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332720" y="4572000"/>
            <a:ext cx="1371600" cy="457200"/>
          </a:xfrm>
          <a:prstGeom prst="roundRect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32720" y="459028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0F1A"/>
                </a:solidFill>
              </a:defRPr>
            </a:pPr>
            <a:r>
              <a:t>3 weeks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394960"/>
            <a:ext cx="9601200" cy="8686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FF9F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46811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F0A"/>
                </a:solidFill>
              </a:defRPr>
            </a:pPr>
            <a:r>
              <a:t>P1: Performance Sprint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80644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</a:defRPr>
            </a:pPr>
            <a:r>
              <a:t>17 useState hooks in Discover, 25+ unoptimized FlatLists.</a:t>
            </a:r>
            <a:br/>
            <a:r>
              <a:t>666-line monolith components. Will fail on low-end Android.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332720" y="5577840"/>
            <a:ext cx="1371600" cy="457200"/>
          </a:xfrm>
          <a:prstGeom prst="roundRect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332720" y="559612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0F1A"/>
                </a:solidFill>
              </a:defRPr>
            </a:pPr>
            <a:r>
              <a:t>2 weeks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0"/>
                </a:solidFill>
              </a:defRPr>
            </a:pPr>
            <a: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88"/>
                </a:solidFill>
              </a:defRPr>
            </a:pPr>
            <a:r>
              <a:t>Seed round to scale India's sports talent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92240"/>
            <a:ext cx="10972800" cy="127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</a:defRPr>
            </a:pPr>
            <a:r>
              <a:t>OnlyKrida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0D158"/>
                </a:solidFill>
              </a:defRPr>
            </a:pPr>
            <a:r>
              <a:t>Raising: Rs 2 Crore ($240K)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77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BB"/>
                </a:solidFill>
              </a:defRPr>
            </a:pPr>
            <a:r>
              <a:t>Pre-money valuation: Rs 10 Crore ($1.2M)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320040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391885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30D158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30D158"/>
                          </a:solidFill>
                        </a:defRPr>
                      </a:pPr>
                      <a:r>
                        <a:t>Allocation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30D158"/>
                          </a:solidFill>
                        </a:defRPr>
                      </a:pPr>
                      <a:r>
                        <a:t>% of Raise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30D158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Engineering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Rs 60L ($72K)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2 full-stack devs + 1 ML engineer for 12 months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Growth &amp; Marketing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Rs 50L ($60K)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25%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User acquisition: college campaigns, sports events, digital ads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Infrastructure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Rs 20L ($24K)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Supabase Pro, Claude API, CDN, monitoring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Operations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Rs 30L ($36K)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Legal, compliance, office, travel for partnerships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Content &amp; Community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Rs 20L ($24K)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Athlete spotlight program, sports content creation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</a:tr>
              <a:tr h="39189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Reserve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Rs 20L ($24K)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0F0"/>
                          </a:solidFill>
                        </a:defRPr>
                      </a:pPr>
                      <a:r>
                        <a:t>Buffer for unexpected costs and opportunities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48640" y="6035040"/>
            <a:ext cx="10972800" cy="4572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0D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05332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0D158"/>
                </a:solidFill>
              </a:defRPr>
            </a:pPr>
            <a:r>
              <a:t>Target: 50K athletes + 100 paying scouts/teams within 12 months of funding  |  Path to profitability: Month 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1828800"/>
            <a:ext cx="6400800" cy="6400800"/>
          </a:xfrm>
          <a:prstGeom prst="ellipse">
            <a:avLst/>
          </a:prstGeom>
          <a:solidFill>
            <a:srgbClr val="153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30D158"/>
                </a:solidFill>
              </a:defRPr>
            </a:pPr>
            <a:r>
              <a:t>OnlyKrida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0F0F0"/>
                </a:solidFill>
              </a:defRPr>
            </a:pPr>
            <a:r>
              <a:t>Making Every Athlete Discoverable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BB"/>
                </a:solidFill>
              </a:defRPr>
            </a:pPr>
            <a:r>
              <a:t>India's First AI-Powered Sports Talent Discovery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30D158"/>
                </a:solidFill>
              </a:rPr>
              <a:t>  &gt;  </a:t>
            </a:r>
            <a:r>
              <a:rPr sz="1600">
                <a:solidFill>
                  <a:srgbClr val="BBBBBB"/>
                </a:solidFill>
              </a:rPr>
              <a:t>Website: onlykrida.com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30D158"/>
                </a:solidFill>
              </a:rPr>
              <a:t>  &gt;  </a:t>
            </a:r>
            <a:r>
              <a:rPr sz="1600">
                <a:solidFill>
                  <a:srgbClr val="BBBBBB"/>
                </a:solidFill>
              </a:rPr>
              <a:t>Email: tanirudh127@gmail.com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30D158"/>
                </a:solidFill>
              </a:rPr>
              <a:t>  &gt;  </a:t>
            </a:r>
            <a:r>
              <a:rPr sz="1600">
                <a:solidFill>
                  <a:srgbClr val="BBBBBB"/>
                </a:solidFill>
              </a:rPr>
              <a:t>Platform: React Native + Supabase + Claude AI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30D158"/>
                </a:solidFill>
              </a:rPr>
              <a:t>  &gt;  </a:t>
            </a:r>
            <a:r>
              <a:rPr sz="1600">
                <a:solidFill>
                  <a:srgbClr val="BBBBBB"/>
                </a:solidFill>
              </a:rPr>
              <a:t>Status: MVP Complete — Ready to Scale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</a:defRPr>
            </a:pPr>
            <a:r>
              <a:t>April 2026  |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